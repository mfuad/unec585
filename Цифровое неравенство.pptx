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66" r:id="rId3"/>
    <p:sldId id="258" r:id="rId4"/>
    <p:sldId id="259" r:id="rId5"/>
    <p:sldId id="267" r:id="rId6"/>
    <p:sldId id="260" r:id="rId7"/>
    <p:sldId id="261" r:id="rId8"/>
    <p:sldId id="265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1D4B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8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D6C9-BF47-7DA1-ADAF-5B8F79229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98FBD-BB2B-8E0B-3433-49BE0259D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F9E48-C6CB-7B0A-EFE8-65C8B9012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1CE9-FA52-4919-A179-344BFBF6D368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DA0DA-AE58-DD12-12E2-7008F6AE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27DEA-1BBA-A332-6046-BEA87312A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A94B-BAF9-4368-BF21-62412DB80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582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DEA6E-A22D-BBA1-1410-41D0C482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0763F-73DB-A6B1-522D-F19243090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47FF3-09AA-D090-7B21-E9EC6741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1CE9-FA52-4919-A179-344BFBF6D368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686E1-8FFC-4FB2-72DD-D1532B11E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7C882-ED37-7E47-64F5-6FDDD05D6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A94B-BAF9-4368-BF21-62412DB80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7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50A3-F31F-21CE-720F-F4BAB2750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8FF19-8F90-4A8E-49C0-13D4149DD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EDCED-4F22-F169-F6F8-831202C46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1CE9-FA52-4919-A179-344BFBF6D368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A031B-CBAC-4224-A834-C5157ABF9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82F99-7884-6A83-FB09-13B1D663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A94B-BAF9-4368-BF21-62412DB80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82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2A76A-AB9A-CC3D-63C3-1E9C9FE6F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997FE-C6CB-52E1-FCE8-220707C6F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9250D-81B7-268C-E49D-BB6F323EE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6A499-AFF9-AEAA-6DAF-7B94FDC18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1CE9-FA52-4919-A179-344BFBF6D368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74E89-B9E4-2DDA-BFE9-731253FD8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BFCB9-427F-EC11-A8EA-DCBC8C680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A94B-BAF9-4368-BF21-62412DB80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5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7047-5AE0-DD27-ABF7-0DE34AC5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096C7-03A2-F425-B009-9E97CF87D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99B2D-6218-2E37-B3B5-7FFA13DA1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5F19C-2196-5230-3F61-9F7ABA0DF1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746A73-5EBD-E51F-10B1-A3E7435C9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E1F3E-B85C-E93D-2299-7B0A59276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1CE9-FA52-4919-A179-344BFBF6D368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CC85E-8BD1-A36B-1D51-96B036FC6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F157F-FA96-D077-C0F7-D4CDAF1B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A94B-BAF9-4368-BF21-62412DB80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1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B0334-E063-BAF0-9EF4-C9E53BD6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C08423-2A4B-ACF6-E972-A440536D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1CE9-FA52-4919-A179-344BFBF6D368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39426-74B3-95F5-AF92-9A88BDE3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9AF37-01D4-B50E-917C-0A47F8219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A94B-BAF9-4368-BF21-62412DB80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45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8DC873-05C2-0807-F09A-53459745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1CE9-FA52-4919-A179-344BFBF6D368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DB9D25-9EC2-3DBF-7CA6-0B4801DDC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443A2-192E-70DC-960F-74BCFA13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A94B-BAF9-4368-BF21-62412DB80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04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F79A-D0AE-3A24-2D1C-825C93FFF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60B0B-2782-81B3-E675-7D933D935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BB308-AFF6-6DCA-5676-A25EE85AE2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FD9C7-E301-5162-0B7E-1C0D4AEB2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1CE9-FA52-4919-A179-344BFBF6D368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46C0F-B28A-75BA-B3E9-66A612FB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5CE02-4352-7518-1055-559524DD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A94B-BAF9-4368-BF21-62412DB80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29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A2B9-D8C5-C7B5-1F12-77DB4B1C1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4B03F1-066C-6632-8124-DC33EA6B5B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D6BF4-C4E7-48EF-A6DA-EBC96DACC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BA93F-D1FF-B888-0144-46AF15F6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1CE9-FA52-4919-A179-344BFBF6D368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2A4F7-C4E1-02FD-E7EB-1EFBBBDD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6AEBA-3DB6-D2A3-68D7-7BD6E19B2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A94B-BAF9-4368-BF21-62412DB80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34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C4C6-04DB-A591-D9B7-D917BBD83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A3FB5-54A8-1BEA-D3C2-8B07ACF1C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0CB5C-E239-09B3-6E93-4FA7B255C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1CE9-FA52-4919-A179-344BFBF6D368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7C009-FC9F-6B78-49E3-B8553C0C1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61541-AE74-782A-E09E-A82F6467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A94B-BAF9-4368-BF21-62412DB80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105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E54C8C-951C-CD1D-8489-DAE8945BCC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CAD53-3D67-975F-8BC3-D5C95D09E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04D19-7E9A-72EC-2F49-0721618DE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1CE9-FA52-4919-A179-344BFBF6D368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D9DD7-09BA-7FE2-1195-FCE2A2FD1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766FD-518F-CBAD-D601-277D26E6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EA94B-BAF9-4368-BF21-62412DB80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99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308EC6-B442-0C66-D3FF-4E5B77280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F2BD3-88CF-FA6F-AD85-938C2D79D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27152-51D9-4183-CF32-3E515E0896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9B1CE9-FA52-4919-A179-344BFBF6D368}" type="datetimeFigureOut">
              <a:rPr lang="en-US" smtClean="0"/>
              <a:t>06-Dec-25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46EFB-D1D5-066D-F7AD-74C298CEF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2C7B8-079E-AB71-D55C-0F5A170E8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EA94B-BAF9-4368-BF21-62412DB801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30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765A87EF-D93C-B636-0DA3-D67EC6B6D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2ADA1B5-FA65-7E87-A9A0-EC6574E80445}"/>
              </a:ext>
            </a:extLst>
          </p:cNvPr>
          <p:cNvSpPr/>
          <p:nvPr/>
        </p:nvSpPr>
        <p:spPr>
          <a:xfrm>
            <a:off x="1862888" y="1961147"/>
            <a:ext cx="8758989" cy="2935705"/>
          </a:xfrm>
          <a:prstGeom prst="rect">
            <a:avLst/>
          </a:prstGeom>
          <a:solidFill>
            <a:srgbClr val="000000">
              <a:alpha val="80000"/>
            </a:srgb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FE4B67-3E98-A6E2-5C8F-A4C56A2DA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5554" y="2229099"/>
            <a:ext cx="8213558" cy="11999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Цифровое неравенство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A328B-7A14-932C-BA44-1499417A60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2611" y="4235784"/>
            <a:ext cx="4359443" cy="661068"/>
          </a:xfrm>
        </p:spPr>
        <p:txBody>
          <a:bodyPr/>
          <a:lstStyle/>
          <a:p>
            <a:r>
              <a:rPr lang="az-Latn-AZ" dirty="0">
                <a:solidFill>
                  <a:schemeClr val="bg1"/>
                </a:solidFill>
              </a:rPr>
              <a:t>Fuad Mammadov 585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602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person in a room&#10;&#10;AI-generated content may be incorrect.">
            <a:extLst>
              <a:ext uri="{FF2B5EF4-FFF2-40B4-BE49-F238E27FC236}">
                <a16:creationId xmlns:a16="http://schemas.microsoft.com/office/drawing/2014/main" id="{22B2D097-604D-0A75-A06E-377BA7B2F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EF073-2727-874D-8F8D-91BC27299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15190"/>
            <a:ext cx="5257800" cy="4908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500" b="1" dirty="0">
                <a:solidFill>
                  <a:schemeClr val="bg1"/>
                </a:solidFill>
              </a:rPr>
              <a:t>Цифровое неравенство</a:t>
            </a:r>
            <a:endParaRPr lang="en-US" sz="35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35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3500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- это различия в доступе к современным информационно-коммуникационным технологиям, включая интернет, цифровые устройства и навыки их использования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6783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E105D900-6A94-C837-B0B7-ED0B13C6D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155609E-4F7C-471F-808C-8FE7BC0CB6C9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A8E375-F567-2BC2-627F-192BE9417F01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Причины цифрового неравенства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572F3-EFE1-FF84-DCDC-D6A537DB6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noFill/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Основные причины включают:</a:t>
            </a:r>
          </a:p>
          <a:p>
            <a:r>
              <a:rPr lang="ru-RU" b="1" dirty="0">
                <a:solidFill>
                  <a:schemeClr val="bg1"/>
                </a:solidFill>
              </a:rPr>
              <a:t>Экономические факторы:</a:t>
            </a:r>
          </a:p>
          <a:p>
            <a:pPr marL="457200" lvl="1" indent="0">
              <a:buNone/>
            </a:pPr>
            <a:r>
              <a:rPr lang="ru-RU" dirty="0">
                <a:solidFill>
                  <a:schemeClr val="bg1"/>
                </a:solidFill>
              </a:rPr>
              <a:t>Высокая стоимость устройств и интернет-услуг, особенно в странах с низкими доходами(около 27% населения имеют доступ к интернету против 93% в странах с высоким доходом).</a:t>
            </a:r>
          </a:p>
          <a:p>
            <a:r>
              <a:rPr lang="ru-RU" b="1" dirty="0">
                <a:solidFill>
                  <a:schemeClr val="bg1"/>
                </a:solidFill>
              </a:rPr>
              <a:t>Географические барьеры:</a:t>
            </a:r>
          </a:p>
          <a:p>
            <a:pPr marL="457200" lvl="1" indent="0">
              <a:buNone/>
            </a:pPr>
            <a:r>
              <a:rPr lang="ru-RU" dirty="0">
                <a:solidFill>
                  <a:schemeClr val="bg1"/>
                </a:solidFill>
              </a:rPr>
              <a:t>Недостаток инфраструктуры в сельских районах(50% доступа в сельской местности против 81% в городах), а также уязвимость регионов Южной Азии и Африки к природным катастрофам.</a:t>
            </a:r>
          </a:p>
          <a:p>
            <a:r>
              <a:rPr lang="ru-RU" b="1" dirty="0">
                <a:solidFill>
                  <a:schemeClr val="bg1"/>
                </a:solidFill>
              </a:rPr>
              <a:t>Социальные и демографические факторы: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низкий уровень цифровой грамотности — около 219 млн человек;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гендерный разрыв: интернетом пользуются около 67% мужчин и 61,8% женщин;</a:t>
            </a:r>
          </a:p>
          <a:p>
            <a:r>
              <a:rPr lang="ru-RU" b="1" dirty="0">
                <a:solidFill>
                  <a:schemeClr val="bg1"/>
                </a:solidFill>
              </a:rPr>
              <a:t>Политические факторы:</a:t>
            </a:r>
          </a:p>
          <a:p>
            <a:pPr marL="457200" lvl="1" indent="0">
              <a:buNone/>
            </a:pPr>
            <a:r>
              <a:rPr lang="ru-RU" dirty="0">
                <a:solidFill>
                  <a:schemeClr val="bg1"/>
                </a:solidFill>
              </a:rPr>
              <a:t>Политическая нестабильность и неравномерные государственные инвестиции, особенно в странах Африки и Азии.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97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people standing together&#10;&#10;AI-generated content may be incorrect.">
            <a:extLst>
              <a:ext uri="{FF2B5EF4-FFF2-40B4-BE49-F238E27FC236}">
                <a16:creationId xmlns:a16="http://schemas.microsoft.com/office/drawing/2014/main" id="{A565E391-A5C0-8965-7EBC-0014275C0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CCD1C6B-7CDD-C63F-E071-B19FB3DBED29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000000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0F269D-38B5-F782-9552-5DA5A022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1"/>
            <a:ext cx="10515600" cy="1325563"/>
          </a:xfrm>
          <a:noFill/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Глобальная статистика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F6428-2553-E90A-F99F-59AEAAD93478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В 2025 году около 5,44 млрд человек (примерно 67% населения мира) имеют доступ к интернету, тогда как 2,6 млрд остаются офлайн.</a:t>
            </a:r>
          </a:p>
          <a:p>
            <a:r>
              <a:rPr lang="ru-RU" dirty="0">
                <a:solidFill>
                  <a:schemeClr val="bg1"/>
                </a:solidFill>
              </a:rPr>
              <a:t>Азия лидирует по числу пользователей (почти 3 млрд), Европа — около 750 млн.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Африка насчитывала около 570 млн пользователей в 2022 году; ожидается рост до 1,1 млрд к концу десятилетия.</a:t>
            </a:r>
          </a:p>
          <a:p>
            <a:r>
              <a:rPr lang="ru-RU" dirty="0">
                <a:solidFill>
                  <a:schemeClr val="bg1"/>
                </a:solidFill>
              </a:rPr>
              <a:t>Северная Европа и Северная Америка имеют уровень проникновения интернета выше 96–97%, тогда как Восточная Африка остаётся регионом с самым низким показателем.</a:t>
            </a:r>
          </a:p>
          <a:p>
            <a:r>
              <a:rPr lang="ru-RU" dirty="0">
                <a:solidFill>
                  <a:schemeClr val="bg1"/>
                </a:solidFill>
              </a:rPr>
              <a:t>Индексы глобальной цифровой связанности показывают значительный разрыв между развитыми и развивающимися странами.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027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756FF-4F44-F0B8-511E-D5F33150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840D7-EBB0-1990-0E86-4BFB98BC2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Digital 2026: internet users pass the 6 billion mark ...">
            <a:extLst>
              <a:ext uri="{FF2B5EF4-FFF2-40B4-BE49-F238E27FC236}">
                <a16:creationId xmlns:a16="http://schemas.microsoft.com/office/drawing/2014/main" id="{1BC5138F-6235-216E-40C1-F773354EA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963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photo-1593697821252-0c9137d9fc45 (6720×4480)">
            <a:extLst>
              <a:ext uri="{FF2B5EF4-FFF2-40B4-BE49-F238E27FC236}">
                <a16:creationId xmlns:a16="http://schemas.microsoft.com/office/drawing/2014/main" id="{62DB2C37-B4F0-F6E7-0339-D44A5136C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A0C50DC-E58F-5D4F-9ED7-6C2AF962F363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000000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E09C72-4558-70CE-496C-BF9C077F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Влияние цифрового неравенства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59041-37A5-1871-8932-50D07BD2C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Социальные последствия:</a:t>
            </a:r>
            <a:endParaRPr lang="en-US" b="1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ru-RU" dirty="0">
                <a:solidFill>
                  <a:schemeClr val="bg1"/>
                </a:solidFill>
              </a:rPr>
              <a:t>Ограниченный доступ к образованию, здравоохранению, государственным услугам и рынку труда, что усиливает социальную изоляцию и неравенство.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Экономические последствия:</a:t>
            </a:r>
            <a:endParaRPr lang="en-US" b="1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ru-RU" dirty="0">
                <a:solidFill>
                  <a:schemeClr val="bg1"/>
                </a:solidFill>
              </a:rPr>
              <a:t>Цифровая изоляция замедляет экономический рост: расширение глобального интернет-доступа могло бы увеличить мировую экономику на триллионы долларов и сократить уровень крайней бедности.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Дополнительные риски:</a:t>
            </a:r>
            <a:endParaRPr lang="en-US" b="1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ru-RU" dirty="0">
                <a:solidFill>
                  <a:schemeClr val="bg1"/>
                </a:solidFill>
              </a:rPr>
              <a:t>Рост уязвимости к цифровому мошенничеству, торможение инноваций, неравные условия конкуренции для бизнеса и дисбаланс регионального развития.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498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ity with many buildings&#10;&#10;AI-generated content may be incorrect.">
            <a:extLst>
              <a:ext uri="{FF2B5EF4-FFF2-40B4-BE49-F238E27FC236}">
                <a16:creationId xmlns:a16="http://schemas.microsoft.com/office/drawing/2014/main" id="{4981E71E-F1AC-DE6B-E5AA-67DD9F252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B47D0F8-EA22-905E-AB90-79CBF77651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07987-5F64-87FB-7383-484067EA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  <a:effectLst/>
              </a:rPr>
              <a:t>Примеры из мира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2A4B-8B13-4D1B-102D-0D4E7DDAA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Развитые страны: </a:t>
            </a:r>
            <a:endParaRPr lang="az-Latn-AZ" b="1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ru-RU" dirty="0">
                <a:solidFill>
                  <a:schemeClr val="bg1"/>
                </a:solidFill>
              </a:rPr>
              <a:t>разрыв сохраняется среди бедных, пожилых, инвалидов и менее образованных (пример — США); </a:t>
            </a:r>
            <a:endParaRPr lang="az-Latn-AZ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ru-RU" dirty="0">
                <a:solidFill>
                  <a:schemeClr val="bg1"/>
                </a:solidFill>
              </a:rPr>
              <a:t>высокий доступ: Финляндия 97,7%, Швейцария 91,4%.</a:t>
            </a:r>
            <a:endParaRPr lang="az-Latn-AZ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Развивающиеся страны: </a:t>
            </a:r>
            <a:endParaRPr lang="az-Latn-AZ" b="1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ru-RU" dirty="0">
                <a:solidFill>
                  <a:schemeClr val="bg1"/>
                </a:solidFill>
              </a:rPr>
              <a:t>Индия — 62,6%, Филиппины — 64,1%; проблемы — низкий ВВП, уязвимая инфраструктура, низкая цифровая грамотность (Африка, Азия).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887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ity with tall buildings&#10;&#10;AI-generated content may be incorrect.">
            <a:extLst>
              <a:ext uri="{FF2B5EF4-FFF2-40B4-BE49-F238E27FC236}">
                <a16:creationId xmlns:a16="http://schemas.microsoft.com/office/drawing/2014/main" id="{20AD7556-F5D8-B71F-E578-0791309FBC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70FCBE5-FDB7-792E-2421-B6CAB0EE5B1C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000000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775D6-6ADC-E811-1C9D-1DB4649D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Цифровое неравенство в Азербайджане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373B3-27CE-E059-3EE1-598B625D1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853" y="3429000"/>
            <a:ext cx="10515600" cy="2866690"/>
          </a:xfrm>
        </p:spPr>
        <p:txBody>
          <a:bodyPr>
            <a:norm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Доступ: </a:t>
            </a:r>
            <a:r>
              <a:rPr lang="ru-RU" dirty="0">
                <a:solidFill>
                  <a:schemeClr val="bg1"/>
                </a:solidFill>
              </a:rPr>
              <a:t>9,23 млн пользователей интернета (89% населения); 11% (1,14 млн) остаются оффлайн.</a:t>
            </a:r>
          </a:p>
          <a:p>
            <a:r>
              <a:rPr lang="ru-RU" b="1" dirty="0">
                <a:solidFill>
                  <a:schemeClr val="bg1"/>
                </a:solidFill>
              </a:rPr>
              <a:t>Город / село: </a:t>
            </a:r>
            <a:r>
              <a:rPr lang="ru-RU" dirty="0">
                <a:solidFill>
                  <a:schemeClr val="bg1"/>
                </a:solidFill>
              </a:rPr>
              <a:t>58,2% — городское население, 41,8% — сельское; в сёлах возможны инфраструктурные пробелы.</a:t>
            </a:r>
          </a:p>
          <a:p>
            <a:r>
              <a:rPr lang="ru-RU" b="1" dirty="0">
                <a:solidFill>
                  <a:schemeClr val="bg1"/>
                </a:solidFill>
              </a:rPr>
              <a:t>Гендерный разрыв: </a:t>
            </a:r>
            <a:r>
              <a:rPr lang="ru-RU" dirty="0">
                <a:solidFill>
                  <a:schemeClr val="bg1"/>
                </a:solidFill>
              </a:rPr>
              <a:t>соцсети — 42,4% женщины, 57,6% мужчины; в населении: 51% и 49%.</a:t>
            </a:r>
          </a:p>
        </p:txBody>
      </p:sp>
    </p:spTree>
    <p:extLst>
      <p:ext uri="{BB962C8B-B14F-4D97-AF65-F5344CB8AC3E}">
        <p14:creationId xmlns:p14="http://schemas.microsoft.com/office/powerpoint/2010/main" val="2424078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atellite dish on a stone wall&#10;&#10;AI-generated content may be incorrect.">
            <a:extLst>
              <a:ext uri="{FF2B5EF4-FFF2-40B4-BE49-F238E27FC236}">
                <a16:creationId xmlns:a16="http://schemas.microsoft.com/office/drawing/2014/main" id="{78AB3E3A-5A22-8CA8-6D7A-2F8CB0432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7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6E095D-CFF7-1AF9-2252-2B48DA1FE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Пути решения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239F5-3FF6-3D55-2F96-007C93A2D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Развитие инфраструктуры:</a:t>
            </a:r>
            <a:endParaRPr lang="en-US" b="1" dirty="0"/>
          </a:p>
          <a:p>
            <a:pPr marL="457200" lvl="1" indent="0">
              <a:buNone/>
            </a:pPr>
            <a:r>
              <a:rPr lang="ru-RU" dirty="0"/>
              <a:t>Инвестиции в широкополосный интернет, включая спутниковые технологии для сельских и труднодоступных районов.</a:t>
            </a:r>
            <a:endParaRPr lang="en-US" dirty="0"/>
          </a:p>
          <a:p>
            <a:r>
              <a:rPr lang="ru-RU" b="1" dirty="0"/>
              <a:t>Образование и цифровая грамотность:</a:t>
            </a:r>
            <a:endParaRPr lang="en-US" b="1" dirty="0"/>
          </a:p>
          <a:p>
            <a:pPr marL="457200" lvl="1" indent="0">
              <a:buNone/>
            </a:pPr>
            <a:r>
              <a:rPr lang="ru-RU" dirty="0"/>
              <a:t>Обучающие программы, особенно для пожилых людей и уязвимых групп населения.</a:t>
            </a:r>
            <a:endParaRPr lang="en-US" dirty="0"/>
          </a:p>
          <a:p>
            <a:r>
              <a:rPr lang="ru-RU" b="1" dirty="0">
                <a:solidFill>
                  <a:schemeClr val="bg1"/>
                </a:solidFill>
              </a:rPr>
              <a:t>Инклюзивные технологии:</a:t>
            </a:r>
            <a:endParaRPr lang="en-US" b="1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ru-RU" dirty="0">
                <a:solidFill>
                  <a:schemeClr val="bg1"/>
                </a:solidFill>
              </a:rPr>
              <a:t>Упрощённые цифровые сервисы, альтернативные способы идентификации и адаптация технологий для разных культурных и социальных условий.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Государственная политика:</a:t>
            </a:r>
            <a:endParaRPr lang="en-US" b="1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ru-RU" dirty="0">
                <a:solidFill>
                  <a:schemeClr val="bg1"/>
                </a:solidFill>
              </a:rPr>
              <a:t>Справедливые инвестиции, борьба с дискриминацией и сотрудничество государства, бизнеса и международных организаций.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94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water drops&#10;&#10;AI-generated content may be incorrect.">
            <a:extLst>
              <a:ext uri="{FF2B5EF4-FFF2-40B4-BE49-F238E27FC236}">
                <a16:creationId xmlns:a16="http://schemas.microsoft.com/office/drawing/2014/main" id="{EB3B6BEE-95EA-03CE-9FC0-D28D486B3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C0354F-9901-4E3B-C941-72F3974F5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effectLst/>
              </a:rPr>
              <a:t>Заключение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62A64-68CB-E369-3B62-6C220007D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Цифровое неравенство продолжает расти на глобальном уровне, усиливая социальные и экономические диспропорции. Однако его преодоление позволит значительно расширить доступ к преимуществам цифровых технологий, включая искусственный интеллект, и добавить триллионы долларов к мировой экономике. Закрытие цифрового разрыва требует совместных и скоординированных усилий правительств, бизнеса и общества.</a:t>
            </a:r>
          </a:p>
        </p:txBody>
      </p:sp>
    </p:spTree>
    <p:extLst>
      <p:ext uri="{BB962C8B-B14F-4D97-AF65-F5344CB8AC3E}">
        <p14:creationId xmlns:p14="http://schemas.microsoft.com/office/powerpoint/2010/main" val="3629143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3DBF-9EC9-88D5-AA4A-5A13D967C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661" y="2786764"/>
            <a:ext cx="2100678" cy="1284472"/>
          </a:xfrm>
        </p:spPr>
        <p:txBody>
          <a:bodyPr>
            <a:noAutofit/>
          </a:bodyPr>
          <a:lstStyle/>
          <a:p>
            <a:pPr algn="ctr"/>
            <a:r>
              <a:rPr lang="ru-RU" sz="7200" dirty="0"/>
              <a:t>ВСЁ.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008726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</TotalTime>
  <Words>573</Words>
  <Application>Microsoft Office PowerPoint</Application>
  <PresentationFormat>Widescreen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Цифровое неравенство</vt:lpstr>
      <vt:lpstr>PowerPoint Presentation</vt:lpstr>
      <vt:lpstr>Причины цифрового неравенства</vt:lpstr>
      <vt:lpstr>Глобальная статистика</vt:lpstr>
      <vt:lpstr>PowerPoint Presentation</vt:lpstr>
      <vt:lpstr>Влияние цифрового неравенства</vt:lpstr>
      <vt:lpstr>Примеры из мира</vt:lpstr>
      <vt:lpstr>Цифровое неравенство в Азербайджане</vt:lpstr>
      <vt:lpstr>Пути решения</vt:lpstr>
      <vt:lpstr>Заключение</vt:lpstr>
      <vt:lpstr>ВСЁ.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Mfuad</dc:creator>
  <cp:lastModifiedBy>Mfuad</cp:lastModifiedBy>
  <cp:revision>1</cp:revision>
  <dcterms:created xsi:type="dcterms:W3CDTF">2025-12-06T16:27:06Z</dcterms:created>
  <dcterms:modified xsi:type="dcterms:W3CDTF">2025-12-06T22:26:12Z</dcterms:modified>
</cp:coreProperties>
</file>