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AE3A33-2767-F919-447B-C2F5FC50C1A6}" name="Mfuad" initials="M" userId="Mfuad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6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AB0D7-22E6-4E0D-ACD0-FF9E4B71D317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7515C-876E-46CC-A89D-CA746CB9A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23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z-Latn-AZ" dirty="0"/>
          </a:p>
          <a:p>
            <a:endParaRPr lang="az-Latn-AZ" dirty="0"/>
          </a:p>
          <a:p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Наша стратегия киберзащиты базируется на четырех ключевых элементах, которые образуют непрерывную цепь безопасности. Всё начинается с понимания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инфраструктуры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. Затем следует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моделирование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, которое позволяет предсказать действия врага. Третий этап — глубокий поиск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уязвимостей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, и, наконец, реализация многоуровневой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защиты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для нейтрализации выявленных рисков.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43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Чтобы защитить систему, мы должны понимать, из чего она состоит. Наша модель выделяет четыре критических сегмента: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Серверы и вычисления: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ядро системы, где данные обрабатываются и хранятся.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Сетевая инфраструктура: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«артерии» системы, обеспечивающие связность и маршрутизацию трафика.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Базы данных: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хранилища структурированной, зачастую конфиденциальной информации.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Пользовательские интерфейсы: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основные точки доступа (Access </a:t>
            </a:r>
            <a:r>
              <a:rPr lang="ru-RU" b="0" i="0" dirty="0" err="1">
                <a:solidFill>
                  <a:srgbClr val="C7C7C7"/>
                </a:solidFill>
                <a:effectLst/>
                <a:latin typeface="Google Sans Text"/>
              </a:rPr>
              <a:t>Points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), через которые пользователи взаимодействуют с системой и которые чаще всего становятся мишенью атак.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0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В основе всей нашей работы лежит </a:t>
            </a:r>
            <a:r>
              <a:rPr lang="ru-RU" b="1" dirty="0">
                <a:effectLst/>
              </a:rPr>
              <a:t>триада информационной безопасности (CIA)</a:t>
            </a:r>
            <a:r>
              <a:rPr lang="ru-RU" dirty="0">
                <a:effectLst/>
              </a:rPr>
              <a:t>. Мы стремимся к достижению трех целей: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Конфиденциальность: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Гарантия того, что данные доступны только тем, кто имеет на это право.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Целостность: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Обеспечение абсолютной точности и неизменности данных в процессе их передачи и хранения.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Доступность: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Создание условий для бесперебойного доступа легитимных пользователей к ресурсам в любое время.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6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Мы разделяем угрозы на категории для более точного противодействия.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Внешние угрозы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исходят от хакеров, вредоносного ПО и </a:t>
            </a:r>
            <a:r>
              <a:rPr lang="ru-RU" b="0" i="0" dirty="0" err="1">
                <a:solidFill>
                  <a:srgbClr val="C7C7C7"/>
                </a:solidFill>
                <a:effectLst/>
                <a:latin typeface="Google Sans Text"/>
              </a:rPr>
              <a:t>DDoS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-атак.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Внутренние угрозы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связаны с действиями инсайдеров или непреднамеренными ошибками персонала.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Важно разделять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преднамеренные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целенаправленные кибератаки и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случайные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события, такие как сбои оборудования или форс-мажорные обстоятельства.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4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Мы придерживаемся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проактивного подхода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. Моделирование угроз — это не разовое действие, а процесс, который интегрируется еще на этапе проектирования или обновления системы. Наша задача — выявить потенциальные векторы атак до того, как они будут использованы, найти слабые места и заранее разработать эффективные меры противодействия.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2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Моделирование угроз — это непрерывный цикл: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Определение активов: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Оценка того, что именно в системе наиболее ценно.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Профилирование нарушителей: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Анализ мотивации и навыков потенциальных атакующих.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Анализ уязвимостей: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Поиск ошибок в коде и архитектурных просчетов.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Сценарии атак: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Проработка возможных векторов проникновения.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Оценка рисков: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Расчет вероятности атаки и масштаба потенциального ущерба.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6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Для систематизации анализа мы используем признанные мировые стандарты: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STRIDE от Microsoft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помогает классифицировать угрозы: от подмены личности до отказа в обслуживании.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DREAD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позволяет </a:t>
            </a:r>
            <a:r>
              <a:rPr lang="ru-RU" b="0" i="0" dirty="0" err="1">
                <a:solidFill>
                  <a:srgbClr val="C7C7C7"/>
                </a:solidFill>
                <a:effectLst/>
                <a:latin typeface="Google Sans Text"/>
              </a:rPr>
              <a:t>квантифицировать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(оцифровать) риск, оценивая ущерб, сложность реализации и масштаб поражения.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PASTA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ориентирована на бизнес-контекст, анализируя последствия кибератак непосредственно для бизнес-процессов организации.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07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Одним из ключевых понятий является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поверхность атаки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. Визуально её можно представить как совокупность всех точек соприкосновения системы с внешней средой. Чем больше этих точек, тем выше вероятность того, что злоумышленник найдет лазейку для несанкционированного доступа.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56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Мы разделяем поверхность атаки на три уровня: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Сетевой: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это наши открытые порты, API, VPN-соединения и веб-серверы.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Программный: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здесь мы ищем уязвимости в коде, отсутствие критических патчей и ошибки в настройках конфигурации ПО.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Человеческий фактор: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это самый непредсказуемый уровень, включающий методы социальной инженерии, фишинг и использование сотрудниками слабых паролей.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28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На практике атаки часто принимают форму: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SQL </a:t>
            </a:r>
            <a:r>
              <a:rPr lang="ru-RU" b="1" i="0" dirty="0" err="1">
                <a:solidFill>
                  <a:srgbClr val="C7C7C7"/>
                </a:solidFill>
                <a:effectLst/>
                <a:latin typeface="Google Sans Text"/>
              </a:rPr>
              <a:t>Injection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Внедрение вредоносных запросов для кражи данных из баз.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XSS (Cross-</a:t>
            </a:r>
            <a:r>
              <a:rPr lang="ru-RU" b="1" i="0" dirty="0" err="1">
                <a:solidFill>
                  <a:srgbClr val="C7C7C7"/>
                </a:solidFill>
                <a:effectLst/>
                <a:latin typeface="Google Sans Text"/>
              </a:rPr>
              <a:t>Site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 </a:t>
            </a:r>
            <a:r>
              <a:rPr lang="ru-RU" b="1" i="0" dirty="0" err="1">
                <a:solidFill>
                  <a:srgbClr val="C7C7C7"/>
                </a:solidFill>
                <a:effectLst/>
                <a:latin typeface="Google Sans Text"/>
              </a:rPr>
              <a:t>Scripting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):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Исполнение скриптов в браузере пользователя для перехвата сессий.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Компрометация аутентификации: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Использование простых паролей или избыточных прав доступа для проникновения в систему.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83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Для проверки нашей защищенности мы используем три метода: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Сканирование сети: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Автоматизированное выявление открытых портов.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Анализ конфигураций: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Проверка того, соблюдается ли принцип минимальных привилегий.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C7C7C7"/>
                </a:solidFill>
                <a:effectLst/>
                <a:latin typeface="Google Sans Text"/>
              </a:rPr>
              <a:t>Пентестинг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 (</a:t>
            </a:r>
            <a:r>
              <a:rPr lang="ru-RU" b="1" i="0" dirty="0" err="1">
                <a:solidFill>
                  <a:srgbClr val="C7C7C7"/>
                </a:solidFill>
                <a:effectLst/>
                <a:latin typeface="Google Sans Text"/>
              </a:rPr>
              <a:t>Pentest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):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Контролируемая имитация действий реального хакера для проверки системы на прочность в «боевых» условиях.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40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Наша защита строится на двух уровнях.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Организационный уровень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включает в себя четкие политики безопасности, контроль доступа на основе ролей (RBAC) и обучение персонала </a:t>
            </a:r>
            <a:r>
              <a:rPr lang="ru-RU" b="0" i="0" dirty="0" err="1">
                <a:solidFill>
                  <a:srgbClr val="C7C7C7"/>
                </a:solidFill>
                <a:effectLst/>
                <a:latin typeface="Google Sans Text"/>
              </a:rPr>
              <a:t>антифишингу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.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Технический уровень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— это «броня» системы: межсетевые экраны, системы IDS/IPS, обязательное шифрование данных и многофакторная аутентификация (MFA).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84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Чтобы снизить риски до приемлемого уровня, мы применяем: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Secure SDLC: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Безопасная разработка ПО с регулярным Code Review.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Минимизация: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Мы отключаем все порты и сервисы, которые не являются жизненно важными.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Сегментация: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 Изоляция критических ресурсов сети, чтобы в случае взлома одного сегмента злоумышленник не смог добраться до остальных.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75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В завершение подчеркну: интеграция моделирования угроз и постоянного анализа поверхности атаки — это единственный способ достичь </a:t>
            </a:r>
            <a:r>
              <a:rPr lang="ru-RU" b="1" i="0" dirty="0">
                <a:solidFill>
                  <a:srgbClr val="C7C7C7"/>
                </a:solidFill>
                <a:effectLst/>
                <a:latin typeface="Google Sans Text"/>
              </a:rPr>
              <a:t>комплексной устойчивости</a:t>
            </a:r>
            <a:r>
              <a:rPr lang="ru-RU" b="0" i="0" dirty="0">
                <a:solidFill>
                  <a:srgbClr val="C7C7C7"/>
                </a:solidFill>
                <a:effectLst/>
                <a:latin typeface="Google Sans Text"/>
              </a:rPr>
              <a:t>. Это позволяет не только отражать текущие кибератаки, но и минимизировать финансовые риски, гарантируя стабильность и непрерывность всех бизнес-процессов.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7515C-876E-46CC-A89D-CA746CB9AD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2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BFBBE1-792A-FF2A-1C48-7F455A824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8334267"/>
            <a:ext cx="7315200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4A70E2-60EA-ACD4-B591-8358696E2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8674513"/>
            <a:ext cx="1495634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59D041-6788-49AC-C866-FACB24E9C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0313" y="8772473"/>
            <a:ext cx="169568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C3AE04-CCA0-6842-3065-85E50A6B9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9381" y="8686800"/>
            <a:ext cx="169568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C8E02E-9913-16DF-A905-99782E14A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9047" y="8717595"/>
            <a:ext cx="169568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C4240F-09DB-B0F2-1BC0-B0DBA841F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682" y="8779302"/>
            <a:ext cx="1381318" cy="276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B24AB-5B75-8704-13A6-D1EFDD36B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7998" y="8791531"/>
            <a:ext cx="1448002" cy="314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6BBFA4-617D-0B83-3BBE-F7181E12A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8802195"/>
            <a:ext cx="1495634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84DF0E-9DAF-0C25-77A2-C8CD0632F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5156" y="8831911"/>
            <a:ext cx="1390844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19F0BB-527A-A09F-67B0-9309D03DC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0696" y="8753426"/>
            <a:ext cx="1667108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7ABCAC-33C3-619E-FB9D-ADF153AB9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6998" y="8727121"/>
            <a:ext cx="1705213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104995-CD4B-2B03-D538-CBA58AFDE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7132" y="8801057"/>
            <a:ext cx="1581371" cy="3048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8C3823-86FB-87B2-EC71-748BFB260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4629" y="8743899"/>
            <a:ext cx="1581371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99CFEE-1114-EF86-4709-02C4BCDF0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8839" y="8688317"/>
            <a:ext cx="1867161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A4CC3-F674-619A-3404-89726994D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0" y="8810584"/>
            <a:ext cx="1270000" cy="295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775</Words>
  <Application>Microsoft Office PowerPoint</Application>
  <PresentationFormat>Custom</PresentationFormat>
  <Paragraphs>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Mfuad</cp:lastModifiedBy>
  <cp:revision>4</cp:revision>
  <dcterms:created xsi:type="dcterms:W3CDTF">2006-08-16T00:00:00Z</dcterms:created>
  <dcterms:modified xsi:type="dcterms:W3CDTF">2026-05-19T11:41:30Z</dcterms:modified>
</cp:coreProperties>
</file>